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Audit performance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2018 baseline</c:v>
              </c:pt>
              <c:pt idx="1">
                <c:v>2019 H1</c:v>
              </c:pt>
              <c:pt idx="2">
                <c:v>2019 year-end</c:v>
              </c:pt>
              <c:pt idx="3">
                <c:v>2020 year-end</c:v>
              </c:pt>
            </c:strLit>
          </c:cat>
          <c:val>
            <c:numLit>
              <c:formatCode>0</c:formatCode>
              <c:ptCount val="4"/>
              <c:pt idx="0">
                <c:v>65</c:v>
              </c:pt>
              <c:pt idx="1">
                <c:v>80</c:v>
              </c:pt>
              <c:pt idx="2">
                <c:v>88</c:v>
              </c:pt>
              <c:pt idx="3">
                <c:v>95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A091-7A44-935C-D5D7DE530302}"/>
            </c:ext>
          </c:extLst>
        </c:ser>
        <c:ser>
          <c:idx val="1"/>
          <c:order val="1"/>
          <c:tx>
            <c:v>Exception index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2018 baseline</c:v>
              </c:pt>
              <c:pt idx="1">
                <c:v>2019 H1</c:v>
              </c:pt>
              <c:pt idx="2">
                <c:v>2019 year-end</c:v>
              </c:pt>
              <c:pt idx="3">
                <c:v>2020 year-end</c:v>
              </c:pt>
            </c:strLit>
          </c:cat>
          <c:val>
            <c:numLit>
              <c:formatCode>0</c:formatCode>
              <c:ptCount val="4"/>
              <c:pt idx="0">
                <c:v>100</c:v>
              </c:pt>
              <c:pt idx="1">
                <c:v>90</c:v>
              </c:pt>
              <c:pt idx="2">
                <c:v>80</c:v>
              </c:pt>
              <c:pt idx="3">
                <c:v>70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A091-7A44-935C-D5D7DE5303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00000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7085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03EB607-0C60-4DBC-BD9A-BB15411E6346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AUDIT READINESS + CONTROL IMPROVEMENT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36D244-5754-4F73-88C4-0A13C8ED544F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8191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65"/>
          </a:bodyPr>
          <a:lstStyle/>
          <a:p>
            <a:pPr algn="l">
              <a:buNone/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Strengthening branch audit readiness through daily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35ED7-A120-4405-A745-981B776A414A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666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43"/>
          </a:bodyPr>
          <a:lstStyle/>
          <a:p>
            <a:pPr algn="l">
              <a:buNone/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Guaranty Trust Bank (GTBank) | Customer Relationship Manager</a:t>
            </a:r>
          </a:p>
          <a:p>
            <a:pPr algn="l">
              <a:buNone/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2018–2020 portfolio case study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13C03-6F48-465D-89F2-5D85944B2F44}"/>
              </a:ext>
            </a:extLst>
          </p:cNvPr>
          <p:cNvSpPr>
            <a:spLocks noGrp="1"/>
          </p:cNvSpPr>
          <p:nvPr/>
        </p:nvSpPr>
        <p:spPr>
          <a:xfrm>
            <a:off x="9334500" y="1476375"/>
            <a:ext cx="2095500" cy="33337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CD0B0-4065-4485-8EF2-30EC2BDD3372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1714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65%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77FDA-8300-4C0F-88DA-18631189468D}"/>
              </a:ext>
            </a:extLst>
          </p:cNvPr>
          <p:cNvSpPr>
            <a:spLocks noGrp="1"/>
          </p:cNvSpPr>
          <p:nvPr/>
        </p:nvSpPr>
        <p:spPr>
          <a:xfrm>
            <a:off x="9525000" y="266700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audit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DB13C-FFBB-4166-BB90-76DFC31A949C}"/>
              </a:ext>
            </a:extLst>
          </p:cNvPr>
          <p:cNvSpPr>
            <a:spLocks noGrp="1"/>
          </p:cNvSpPr>
          <p:nvPr/>
        </p:nvSpPr>
        <p:spPr>
          <a:xfrm>
            <a:off x="9667875" y="3333750"/>
            <a:ext cx="1428750" cy="38100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05F33-CDFA-4938-87BC-E7CAE20964FD}"/>
              </a:ext>
            </a:extLst>
          </p:cNvPr>
          <p:cNvSpPr>
            <a:spLocks noGrp="1"/>
          </p:cNvSpPr>
          <p:nvPr/>
        </p:nvSpPr>
        <p:spPr>
          <a:xfrm>
            <a:off x="9525000" y="3571875"/>
            <a:ext cx="1714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B569E5-BF9E-49ED-8086-D4BE47B96C77}"/>
              </a:ext>
            </a:extLst>
          </p:cNvPr>
          <p:cNvSpPr>
            <a:spLocks noGrp="1"/>
          </p:cNvSpPr>
          <p:nvPr/>
        </p:nvSpPr>
        <p:spPr>
          <a:xfrm>
            <a:off x="9525000" y="4286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audit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6BBFA4-F50D-40FF-BCA7-D8E87B98AAD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08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Agnes Iwaye | Project Management Portfolio</a:t>
            </a:r>
          </a:p>
        </p:txBody>
      </p:sp>
    </p:spTree>
    <p:extLst>
      <p:ext uri="{BB962C8B-B14F-4D97-AF65-F5344CB8AC3E}">
        <p14:creationId xmlns:p14="http://schemas.microsoft.com/office/powerpoint/2010/main" val="2133735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EA3AE95D-27E6-471B-8FE5-3EC93FB5F3D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failed audit exposed a recurring control-readiness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089AEF-EE62-40EE-8C14-B76A83F3A997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80E34-4574-4373-AC4B-5A1D89AAF91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3A0FE-DD0D-4B2C-93E9-6539D082D54E}"/>
              </a:ext>
            </a:extLst>
          </p:cNvPr>
          <p:cNvSpPr>
            <a:spLocks noGrp="1"/>
          </p:cNvSpPr>
          <p:nvPr/>
        </p:nvSpPr>
        <p:spPr>
          <a:xfrm>
            <a:off x="400050" y="133350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branch was correcting documentation and transaction issues too late—often during pre-audit preparation—creating repeat findings, unclear ownership and avoidable fraud or compliance exposure.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6EE911-97A0-4E8B-A8AD-134F3A24F388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5334000" cy="13811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3D62C-8DED-4224-A51A-63348D35C1B4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STARTING 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5AC841-D0B3-4B2A-B18F-CA777156BECF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476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758"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≈65% audit score</a:t>
            </a:r>
          </a:p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Previous pass performance generally ≤75%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1A12B-C614-4C71-B200-11ABCCC07E8B}"/>
              </a:ext>
            </a:extLst>
          </p:cNvPr>
          <p:cNvSpPr>
            <a:spLocks noGrp="1"/>
          </p:cNvSpPr>
          <p:nvPr/>
        </p:nvSpPr>
        <p:spPr>
          <a:xfrm>
            <a:off x="6076950" y="2762250"/>
            <a:ext cx="5334000" cy="1381125"/>
          </a:xfrm>
          <a:prstGeom prst="rect">
            <a:avLst/>
          </a:prstGeom>
          <a:solidFill>
            <a:srgbClr val="E8F5EF"/>
          </a:solidFill>
          <a:ln w="9525">
            <a:solidFill>
              <a:srgbClr val="1687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180130-904D-4773-80D2-3899B8C3890D}"/>
              </a:ext>
            </a:extLst>
          </p:cNvPr>
          <p:cNvSpPr>
            <a:spLocks noGrp="1"/>
          </p:cNvSpPr>
          <p:nvPr/>
        </p:nvSpPr>
        <p:spPr>
          <a:xfrm>
            <a:off x="6343650" y="29051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1687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75B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DDEDB6-681B-4B63-B889-A4AFD41A58BD}"/>
              </a:ext>
            </a:extLst>
          </p:cNvPr>
          <p:cNvSpPr>
            <a:spLocks noGrp="1"/>
          </p:cNvSpPr>
          <p:nvPr/>
        </p:nvSpPr>
        <p:spPr>
          <a:xfrm>
            <a:off x="6343650" y="3238500"/>
            <a:ext cx="476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464"/>
          </a:bodyPr>
          <a:lstStyle/>
          <a:p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continuous audit readiness and reach approximately 95% performance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2E6552-1827-4CF3-BADA-B2C0B00EFA9A}"/>
              </a:ext>
            </a:extLst>
          </p:cNvPr>
          <p:cNvSpPr>
            <a:spLocks noGrp="1"/>
          </p:cNvSpPr>
          <p:nvPr/>
        </p:nvSpPr>
        <p:spPr>
          <a:xfrm>
            <a:off x="400050" y="4619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309"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My 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B3B64C-8AD2-48BF-882E-75471AA0219A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5048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355"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Planned pre-audit readiness and coordinated evidence</a:t>
            </a:r>
          </a:p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Introduced a daily call-over control</a:t>
            </a:r>
          </a:p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Assigned exceptions to accountable process owners</a:t>
            </a:r>
          </a:p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Tracked closure and escalated aging or high-risk issues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2EFB79-957A-4EE5-A447-72AA530680F3}"/>
              </a:ext>
            </a:extLst>
          </p:cNvPr>
          <p:cNvSpPr>
            <a:spLocks noGrp="1"/>
          </p:cNvSpPr>
          <p:nvPr/>
        </p:nvSpPr>
        <p:spPr>
          <a:xfrm>
            <a:off x="6076950" y="4619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309"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 environment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DBB9E5-99B7-4355-A8E1-F6A485B8CE24}"/>
              </a:ext>
            </a:extLst>
          </p:cNvPr>
          <p:cNvSpPr>
            <a:spLocks noGrp="1"/>
          </p:cNvSpPr>
          <p:nvPr/>
        </p:nvSpPr>
        <p:spPr>
          <a:xfrm>
            <a:off x="6076950" y="5000625"/>
            <a:ext cx="5143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Operations • Internal Control • Tellers / Cash Office</a:t>
            </a:r>
          </a:p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Fraud &amp; AML • Cybersecurity • Relationship Managers</a:t>
            </a:r>
          </a:p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 leadership • External auditors</a:t>
            </a:r>
          </a:p>
        </p:txBody>
      </p:sp>
    </p:spTree>
    <p:extLst>
      <p:ext uri="{BB962C8B-B14F-4D97-AF65-F5344CB8AC3E}">
        <p14:creationId xmlns:p14="http://schemas.microsoft.com/office/powerpoint/2010/main" val="43767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77725B91-B3AC-4010-B48F-9B904A25135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546"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Daily call-over turned audit preparation into a continuous 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7119B2-5E36-4B3A-9BB4-F9284F99ABD7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45E8D-8BFD-4310-90A7-833044AB6C87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6E72F-885A-4970-9698-A6712614546F}"/>
              </a:ext>
            </a:extLst>
          </p:cNvPr>
          <p:cNvSpPr>
            <a:spLocks noGrp="1"/>
          </p:cNvSpPr>
          <p:nvPr/>
        </p:nvSpPr>
        <p:spPr>
          <a:xfrm>
            <a:off x="2352675" y="2714625"/>
            <a:ext cx="36195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BAF884-5A94-49B3-A41C-815DC14EB8FA}"/>
              </a:ext>
            </a:extLst>
          </p:cNvPr>
          <p:cNvSpPr>
            <a:spLocks noGrp="1"/>
          </p:cNvSpPr>
          <p:nvPr/>
        </p:nvSpPr>
        <p:spPr>
          <a:xfrm>
            <a:off x="4667250" y="2714625"/>
            <a:ext cx="36195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554A96-49D9-487C-A695-0202508E5FA8}"/>
              </a:ext>
            </a:extLst>
          </p:cNvPr>
          <p:cNvSpPr>
            <a:spLocks noGrp="1"/>
          </p:cNvSpPr>
          <p:nvPr/>
        </p:nvSpPr>
        <p:spPr>
          <a:xfrm>
            <a:off x="6981825" y="2714625"/>
            <a:ext cx="36195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255C1-F54F-476D-90BB-66E9088AB2BD}"/>
              </a:ext>
            </a:extLst>
          </p:cNvPr>
          <p:cNvSpPr>
            <a:spLocks noGrp="1"/>
          </p:cNvSpPr>
          <p:nvPr/>
        </p:nvSpPr>
        <p:spPr>
          <a:xfrm>
            <a:off x="9296400" y="2714625"/>
            <a:ext cx="36195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182EC-A026-4A46-AB49-ADEE002EBB72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1952625" cy="24288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60D6DD-F2C0-45BD-B125-2D5B9B6FA621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438"/>
          </a:bodyPr>
          <a:lstStyle/>
          <a:p>
            <a:pPr algn="l">
              <a:buNone/>
              <a:defRPr sz="225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33CC8-CC51-453F-921B-47B348E1B692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300B0F-17E5-4AC3-839D-A6E628E57C21}"/>
              </a:ext>
            </a:extLst>
          </p:cNvPr>
          <p:cNvSpPr>
            <a:spLocks noGrp="1"/>
          </p:cNvSpPr>
          <p:nvPr/>
        </p:nvSpPr>
        <p:spPr>
          <a:xfrm>
            <a:off x="590550" y="3048000"/>
            <a:ext cx="1571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333"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daily transaction batches, approvals and supporting documents.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85606-F39F-4D41-97CA-E05B0A7786FE}"/>
              </a:ext>
            </a:extLst>
          </p:cNvPr>
          <p:cNvSpPr>
            <a:spLocks noGrp="1"/>
          </p:cNvSpPr>
          <p:nvPr/>
        </p:nvSpPr>
        <p:spPr>
          <a:xfrm>
            <a:off x="2714625" y="1905000"/>
            <a:ext cx="1952625" cy="24288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BB117-2E7D-42BC-9A74-AB8AEB65FAE1}"/>
              </a:ext>
            </a:extLst>
          </p:cNvPr>
          <p:cNvSpPr>
            <a:spLocks noGrp="1"/>
          </p:cNvSpPr>
          <p:nvPr/>
        </p:nvSpPr>
        <p:spPr>
          <a:xfrm>
            <a:off x="2905125" y="20955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438"/>
          </a:bodyPr>
          <a:lstStyle/>
          <a:p>
            <a:pPr algn="l">
              <a:buNone/>
              <a:defRPr sz="225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031356-775A-4F2F-8729-FEA9B7A2F1E2}"/>
              </a:ext>
            </a:extLst>
          </p:cNvPr>
          <p:cNvSpPr>
            <a:spLocks noGrp="1"/>
          </p:cNvSpPr>
          <p:nvPr/>
        </p:nvSpPr>
        <p:spPr>
          <a:xfrm>
            <a:off x="2905125" y="2590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0E5C18-8F05-431F-8BC6-D70672C5C0AA}"/>
              </a:ext>
            </a:extLst>
          </p:cNvPr>
          <p:cNvSpPr>
            <a:spLocks noGrp="1"/>
          </p:cNvSpPr>
          <p:nvPr/>
        </p:nvSpPr>
        <p:spPr>
          <a:xfrm>
            <a:off x="2905125" y="3048000"/>
            <a:ext cx="1571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392"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omissions, posting errors, KYC gaps and control exceptions.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5DFA02-3A1A-4559-9469-9F25C31895E7}"/>
              </a:ext>
            </a:extLst>
          </p:cNvPr>
          <p:cNvSpPr>
            <a:spLocks noGrp="1"/>
          </p:cNvSpPr>
          <p:nvPr/>
        </p:nvSpPr>
        <p:spPr>
          <a:xfrm>
            <a:off x="5029200" y="1905000"/>
            <a:ext cx="1952625" cy="24288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48DFC1-9170-47C6-BC4B-4CE0752A158F}"/>
              </a:ext>
            </a:extLst>
          </p:cNvPr>
          <p:cNvSpPr>
            <a:spLocks noGrp="1"/>
          </p:cNvSpPr>
          <p:nvPr/>
        </p:nvSpPr>
        <p:spPr>
          <a:xfrm>
            <a:off x="5219700" y="20955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438"/>
          </a:bodyPr>
          <a:lstStyle/>
          <a:p>
            <a:pPr algn="l">
              <a:buNone/>
              <a:defRPr sz="225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E679EB-F2B3-4643-8F4D-F7B8AE13ABFC}"/>
              </a:ext>
            </a:extLst>
          </p:cNvPr>
          <p:cNvSpPr>
            <a:spLocks noGrp="1"/>
          </p:cNvSpPr>
          <p:nvPr/>
        </p:nvSpPr>
        <p:spPr>
          <a:xfrm>
            <a:off x="5219700" y="2590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2DEE75-E710-4195-9B54-5DBE5564EFCD}"/>
              </a:ext>
            </a:extLst>
          </p:cNvPr>
          <p:cNvSpPr>
            <a:spLocks noGrp="1"/>
          </p:cNvSpPr>
          <p:nvPr/>
        </p:nvSpPr>
        <p:spPr>
          <a:xfrm>
            <a:off x="5219700" y="3048000"/>
            <a:ext cx="1571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486"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Route actions to operations, tellers, AML, cybersecurity or internal control.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8145EF-39F4-4FC7-9FD3-055AAAF411DE}"/>
              </a:ext>
            </a:extLst>
          </p:cNvPr>
          <p:cNvSpPr>
            <a:spLocks noGrp="1"/>
          </p:cNvSpPr>
          <p:nvPr/>
        </p:nvSpPr>
        <p:spPr>
          <a:xfrm>
            <a:off x="7343775" y="1905000"/>
            <a:ext cx="1952625" cy="24288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625D27-4742-4FE8-AB7A-DE9CE67C38FB}"/>
              </a:ext>
            </a:extLst>
          </p:cNvPr>
          <p:cNvSpPr>
            <a:spLocks noGrp="1"/>
          </p:cNvSpPr>
          <p:nvPr/>
        </p:nvSpPr>
        <p:spPr>
          <a:xfrm>
            <a:off x="7534275" y="20955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438"/>
          </a:bodyPr>
          <a:lstStyle/>
          <a:p>
            <a:pPr algn="l">
              <a:buNone/>
              <a:defRPr sz="225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F16581-53A5-459E-B321-ED138F3CA645}"/>
              </a:ext>
            </a:extLst>
          </p:cNvPr>
          <p:cNvSpPr>
            <a:spLocks noGrp="1"/>
          </p:cNvSpPr>
          <p:nvPr/>
        </p:nvSpPr>
        <p:spPr>
          <a:xfrm>
            <a:off x="7534275" y="2590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CC9F83-A627-4705-B6C4-897E1174130B}"/>
              </a:ext>
            </a:extLst>
          </p:cNvPr>
          <p:cNvSpPr>
            <a:spLocks noGrp="1"/>
          </p:cNvSpPr>
          <p:nvPr/>
        </p:nvSpPr>
        <p:spPr>
          <a:xfrm>
            <a:off x="7534275" y="3048000"/>
            <a:ext cx="1571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575"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 corrections and retain closure evidence in the issue register.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1B5D78-756C-497F-869D-A081F6ED7FBF}"/>
              </a:ext>
            </a:extLst>
          </p:cNvPr>
          <p:cNvSpPr>
            <a:spLocks noGrp="1"/>
          </p:cNvSpPr>
          <p:nvPr/>
        </p:nvSpPr>
        <p:spPr>
          <a:xfrm>
            <a:off x="9658350" y="1905000"/>
            <a:ext cx="1952625" cy="2428875"/>
          </a:xfrm>
          <a:prstGeom prst="rect">
            <a:avLst/>
          </a:prstGeom>
          <a:solidFill>
            <a:srgbClr val="FDECEF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74145B-1D68-43E8-9536-006D59AA48C7}"/>
              </a:ext>
            </a:extLst>
          </p:cNvPr>
          <p:cNvSpPr>
            <a:spLocks noGrp="1"/>
          </p:cNvSpPr>
          <p:nvPr/>
        </p:nvSpPr>
        <p:spPr>
          <a:xfrm>
            <a:off x="9848850" y="20955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438"/>
          </a:bodyPr>
          <a:lstStyle/>
          <a:p>
            <a:pPr algn="l">
              <a:buNone/>
              <a:defRPr sz="225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50CFD1-962C-49F3-8040-171C63EE919B}"/>
              </a:ext>
            </a:extLst>
          </p:cNvPr>
          <p:cNvSpPr>
            <a:spLocks noGrp="1"/>
          </p:cNvSpPr>
          <p:nvPr/>
        </p:nvSpPr>
        <p:spPr>
          <a:xfrm>
            <a:off x="9848850" y="2590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0CDCE-8D05-42F3-B502-E26595A46555}"/>
              </a:ext>
            </a:extLst>
          </p:cNvPr>
          <p:cNvSpPr>
            <a:spLocks noGrp="1"/>
          </p:cNvSpPr>
          <p:nvPr/>
        </p:nvSpPr>
        <p:spPr>
          <a:xfrm>
            <a:off x="9848850" y="3048000"/>
            <a:ext cx="1571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Raise high-risk, repeat or overdue items to branch leadership.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575814-7A49-41A2-99DD-6FA1C7F27964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1210925" cy="781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955F64-3A57-4AEF-85E1-16A84E684CB0}"/>
              </a:ext>
            </a:extLst>
          </p:cNvPr>
          <p:cNvSpPr>
            <a:spLocks noGrp="1"/>
          </p:cNvSpPr>
          <p:nvPr/>
        </p:nvSpPr>
        <p:spPr>
          <a:xfrm>
            <a:off x="666750" y="50768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926"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effect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8B68A7-8B76-414C-AB3D-377D906FB928}"/>
              </a:ext>
            </a:extLst>
          </p:cNvPr>
          <p:cNvSpPr>
            <a:spLocks noGrp="1"/>
          </p:cNvSpPr>
          <p:nvPr/>
        </p:nvSpPr>
        <p:spPr>
          <a:xfrm>
            <a:off x="2476500" y="5076825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73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Exceptions became visible while they were still correctable—before they accumulated into formal audit findings.</a:t>
            </a:r>
          </a:p>
        </p:txBody>
      </p:sp>
    </p:spTree>
    <p:extLst>
      <p:ext uri="{BB962C8B-B14F-4D97-AF65-F5344CB8AC3E}">
        <p14:creationId xmlns:p14="http://schemas.microsoft.com/office/powerpoint/2010/main" val="680016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F8035D77-C673-4DBD-839B-67373E13C3A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088"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 ownership connected frontline operations to independent assurance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5A20C-22C6-4061-ABAC-37AAAEA6520E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A9AF06-8C7F-4B32-B7F9-3BA595B684DF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72155-D680-4F4E-BAE4-9F60DA803031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2524125" cy="22383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B6F135-7E49-4581-AFC7-00D088A515DC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4CBDFE-1070-4159-A2C8-D022827224D8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095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398"/>
          </a:bodyPr>
          <a:lstStyle/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Tellers / Cash Office</a:t>
            </a:r>
          </a:p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Operations</a:t>
            </a:r>
          </a:p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Relationship Managers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6FFC35-3401-4324-A1C4-A3B7946C9905}"/>
              </a:ext>
            </a:extLst>
          </p:cNvPr>
          <p:cNvSpPr>
            <a:spLocks noGrp="1"/>
          </p:cNvSpPr>
          <p:nvPr/>
        </p:nvSpPr>
        <p:spPr>
          <a:xfrm>
            <a:off x="3219450" y="1714500"/>
            <a:ext cx="2524125" cy="2238375"/>
          </a:xfrm>
          <a:prstGeom prst="rect">
            <a:avLst/>
          </a:prstGeom>
          <a:solidFill>
            <a:srgbClr val="FDECEF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5F898-9D69-4F8D-B65F-632B314B6064}"/>
              </a:ext>
            </a:extLst>
          </p:cNvPr>
          <p:cNvSpPr>
            <a:spLocks noGrp="1"/>
          </p:cNvSpPr>
          <p:nvPr/>
        </p:nvSpPr>
        <p:spPr>
          <a:xfrm>
            <a:off x="3429000" y="1885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CONTROL OWNERS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FE42F-2704-4680-82A5-D4BAF8CF7839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2095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033"/>
          </a:bodyPr>
          <a:lstStyle/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Relationship Manager</a:t>
            </a:r>
          </a:p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 Manager</a:t>
            </a:r>
          </a:p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AF4EAE-B0EF-4384-9E88-D8E43A6EEA7E}"/>
              </a:ext>
            </a:extLst>
          </p:cNvPr>
          <p:cNvSpPr>
            <a:spLocks noGrp="1"/>
          </p:cNvSpPr>
          <p:nvPr/>
        </p:nvSpPr>
        <p:spPr>
          <a:xfrm>
            <a:off x="6038850" y="1714500"/>
            <a:ext cx="2524125" cy="22383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10C394-9AB9-41E8-A807-D784E40DA2B4}"/>
              </a:ext>
            </a:extLst>
          </p:cNvPr>
          <p:cNvSpPr>
            <a:spLocks noGrp="1"/>
          </p:cNvSpPr>
          <p:nvPr/>
        </p:nvSpPr>
        <p:spPr>
          <a:xfrm>
            <a:off x="6248400" y="1885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 + 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08A01D-6EA8-4623-B7A5-80089AFB7719}"/>
              </a:ext>
            </a:extLst>
          </p:cNvPr>
          <p:cNvSpPr>
            <a:spLocks noGrp="1"/>
          </p:cNvSpPr>
          <p:nvPr/>
        </p:nvSpPr>
        <p:spPr>
          <a:xfrm>
            <a:off x="6248400" y="2381250"/>
            <a:ext cx="2095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Fraud &amp; AML</a:t>
            </a:r>
          </a:p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Cybersecurity</a:t>
            </a:r>
          </a:p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Compliance 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927EE5-A31F-4799-B2B8-5CE39FADE41B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524125" cy="22383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9B908A-27AD-451A-8307-CF3F98CFD945}"/>
              </a:ext>
            </a:extLst>
          </p:cNvPr>
          <p:cNvSpPr>
            <a:spLocks noGrp="1"/>
          </p:cNvSpPr>
          <p:nvPr/>
        </p:nvSpPr>
        <p:spPr>
          <a:xfrm>
            <a:off x="9067800" y="1885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817CEC-B3B5-4DC4-92B4-88548B7C8082}"/>
              </a:ext>
            </a:extLst>
          </p:cNvPr>
          <p:cNvSpPr>
            <a:spLocks noGrp="1"/>
          </p:cNvSpPr>
          <p:nvPr/>
        </p:nvSpPr>
        <p:spPr>
          <a:xfrm>
            <a:off x="9067800" y="2381250"/>
            <a:ext cx="2095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 Audit</a:t>
            </a:r>
          </a:p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Auditors</a:t>
            </a:r>
          </a:p>
          <a:p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Executive reporting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9DC47D-039D-408A-8666-1D573C31116A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309"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Communication rhythm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FFC804-2AB2-491E-9B89-299289105852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2571750" cy="571500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4C067B-A512-4B4D-8CB2-D30623F33AE3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2324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Daily exception huddle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4F62B9-4491-4C38-A815-265D31731447}"/>
              </a:ext>
            </a:extLst>
          </p:cNvPr>
          <p:cNvSpPr>
            <a:spLocks noGrp="1"/>
          </p:cNvSpPr>
          <p:nvPr/>
        </p:nvSpPr>
        <p:spPr>
          <a:xfrm>
            <a:off x="3200400" y="5000625"/>
            <a:ext cx="25717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DF1B5D-178E-4D14-84C7-199FFAA29E87}"/>
              </a:ext>
            </a:extLst>
          </p:cNvPr>
          <p:cNvSpPr>
            <a:spLocks noGrp="1"/>
          </p:cNvSpPr>
          <p:nvPr/>
        </p:nvSpPr>
        <p:spPr>
          <a:xfrm>
            <a:off x="3324225" y="5095875"/>
            <a:ext cx="2324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Weekly readiness review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2CCC81-02E5-41EE-9B20-9A58CA88921B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25717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35264B-6D97-4306-8A31-5A9269FD557C}"/>
              </a:ext>
            </a:extLst>
          </p:cNvPr>
          <p:cNvSpPr>
            <a:spLocks noGrp="1"/>
          </p:cNvSpPr>
          <p:nvPr/>
        </p:nvSpPr>
        <p:spPr>
          <a:xfrm>
            <a:off x="6124575" y="5095875"/>
            <a:ext cx="2324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Monthly risk 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81C000-A407-4483-8FE4-56B5EDA35A60}"/>
              </a:ext>
            </a:extLst>
          </p:cNvPr>
          <p:cNvSpPr>
            <a:spLocks noGrp="1"/>
          </p:cNvSpPr>
          <p:nvPr/>
        </p:nvSpPr>
        <p:spPr>
          <a:xfrm>
            <a:off x="8801100" y="5000625"/>
            <a:ext cx="25717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4A382D-23AF-4CC2-B81A-7BA91A25A318}"/>
              </a:ext>
            </a:extLst>
          </p:cNvPr>
          <p:cNvSpPr>
            <a:spLocks noGrp="1"/>
          </p:cNvSpPr>
          <p:nvPr/>
        </p:nvSpPr>
        <p:spPr>
          <a:xfrm>
            <a:off x="8924925" y="5095875"/>
            <a:ext cx="2324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853"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Pre-audit evidence checkpoint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A9BC6D-3AC5-496E-A07F-28F9FDC5233D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Escalation triggers: high-risk exception • overdue corrective action • repeat finding • readiness below 90%</a:t>
            </a:r>
          </a:p>
        </p:txBody>
      </p:sp>
    </p:spTree>
    <p:extLst>
      <p:ext uri="{BB962C8B-B14F-4D97-AF65-F5344CB8AC3E}">
        <p14:creationId xmlns:p14="http://schemas.microsoft.com/office/powerpoint/2010/main" val="99608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210A0C0A-DD53-4525-BA31-0684A592298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performance reached 95% as exceptions declined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117EE-4B62-4B59-A35A-7E6ED0A08651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386E1-CD79-45B9-BE78-ABB84A99EC1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Chart"/>
          <p:cNvGraphicFramePr/>
          <p:nvPr/>
        </p:nvGraphicFramePr>
        <p:xfrm>
          <a:off x="400050" y="1571625"/>
          <a:ext cx="66675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3933C7E-5D61-4437-8D6C-AE66F0C69164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714750" cy="1143000"/>
          </a:xfrm>
          <a:prstGeom prst="rect">
            <a:avLst/>
          </a:prstGeom>
          <a:solidFill>
            <a:srgbClr val="E8F5EF"/>
          </a:solidFill>
          <a:ln w="9525">
            <a:solidFill>
              <a:srgbClr val="1687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37F55-2284-4CD0-A789-4DC15DEA2DAA}"/>
              </a:ext>
            </a:extLst>
          </p:cNvPr>
          <p:cNvSpPr>
            <a:spLocks noGrp="1"/>
          </p:cNvSpPr>
          <p:nvPr/>
        </p:nvSpPr>
        <p:spPr>
          <a:xfrm>
            <a:off x="7810500" y="1752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1687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75B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F84CC2-86BC-47E4-9645-484DF884E476}"/>
              </a:ext>
            </a:extLst>
          </p:cNvPr>
          <p:cNvSpPr>
            <a:spLocks noGrp="1"/>
          </p:cNvSpPr>
          <p:nvPr/>
        </p:nvSpPr>
        <p:spPr>
          <a:xfrm>
            <a:off x="7810500" y="20955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48"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+30 percentage points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904971-D16E-4D6A-917E-7700D7846FB7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3714750" cy="1143000"/>
          </a:xfrm>
          <a:prstGeom prst="rect">
            <a:avLst/>
          </a:prstGeom>
          <a:solidFill>
            <a:srgbClr val="FDECEF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3C069-A44A-4FD5-8111-79C52796CAE9}"/>
              </a:ext>
            </a:extLst>
          </p:cNvPr>
          <p:cNvSpPr>
            <a:spLocks noGrp="1"/>
          </p:cNvSpPr>
          <p:nvPr/>
        </p:nvSpPr>
        <p:spPr>
          <a:xfrm>
            <a:off x="7810500" y="313372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CONTROL 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6FEB1F-0EFB-48F1-9E5E-1AD890D6F81D}"/>
              </a:ext>
            </a:extLst>
          </p:cNvPr>
          <p:cNvSpPr>
            <a:spLocks noGrp="1"/>
          </p:cNvSpPr>
          <p:nvPr/>
        </p:nvSpPr>
        <p:spPr>
          <a:xfrm>
            <a:off x="7810500" y="3476625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684"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30% fewer errors / exceptions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25BB9-80B1-4719-AE58-3059FAA50186}"/>
              </a:ext>
            </a:extLst>
          </p:cNvPr>
          <p:cNvSpPr>
            <a:spLocks noGrp="1"/>
          </p:cNvSpPr>
          <p:nvPr/>
        </p:nvSpPr>
        <p:spPr>
          <a:xfrm>
            <a:off x="7524750" y="4381500"/>
            <a:ext cx="3714750" cy="11430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2F879-D581-4D8C-B5DE-DCDCDD9069FB}"/>
              </a:ext>
            </a:extLst>
          </p:cNvPr>
          <p:cNvSpPr>
            <a:spLocks noGrp="1"/>
          </p:cNvSpPr>
          <p:nvPr/>
        </p:nvSpPr>
        <p:spPr>
          <a:xfrm>
            <a:off x="7810500" y="45148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NOTE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56AE00-A76C-4D8E-B5C6-A3A6611E99A1}"/>
              </a:ext>
            </a:extLst>
          </p:cNvPr>
          <p:cNvSpPr>
            <a:spLocks noGrp="1"/>
          </p:cNvSpPr>
          <p:nvPr/>
        </p:nvSpPr>
        <p:spPr>
          <a:xfrm>
            <a:off x="7810500" y="48577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4131"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Intermediate review-point values are illustrative; 65%, 95% and the 30% reduction are user-provided.</a:t>
            </a:r>
          </a:p>
        </p:txBody>
      </p:sp>
    </p:spTree>
    <p:extLst>
      <p:ext uri="{BB962C8B-B14F-4D97-AF65-F5344CB8AC3E}">
        <p14:creationId xmlns:p14="http://schemas.microsoft.com/office/powerpoint/2010/main" val="103791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B39113D6-6DA6-452D-8B8E-E2B36B4D925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214"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project improved readiness, control discipline and evidence quality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3BF0D-FAAC-4A57-9E29-9EB63069D5D0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95761-C3C9-4E82-9227-72ECECF2D6C6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9FC99-2A63-448E-ADAA-3C3D97E700C8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2524125" cy="2000250"/>
          </a:xfrm>
          <a:prstGeom prst="rect">
            <a:avLst/>
          </a:prstGeom>
          <a:solidFill>
            <a:srgbClr val="E8F5EF"/>
          </a:solidFill>
          <a:ln w="9525">
            <a:solidFill>
              <a:srgbClr val="1687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A7D4D1-0419-4020-AF2E-4F2FD1CA1942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21812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F1419-E139-47FD-9AA9-49B93F9C5447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2066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audit performance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1821E3-872F-496C-8DE4-7C5A23DE7E87}"/>
              </a:ext>
            </a:extLst>
          </p:cNvPr>
          <p:cNvSpPr>
            <a:spLocks noGrp="1"/>
          </p:cNvSpPr>
          <p:nvPr/>
        </p:nvSpPr>
        <p:spPr>
          <a:xfrm>
            <a:off x="3200400" y="1619250"/>
            <a:ext cx="2524125" cy="2000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EE94A-266E-44F2-B8E3-551EE4EFB2A1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21812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+30 pts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0953B5-43DF-4362-8C5E-2CC852718EC8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2066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improvement from 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528A90-0E96-42A8-BB45-72E4D1BD3B3C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2524125" cy="2000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99755-D92E-415F-97E7-40C51FF677DD}"/>
              </a:ext>
            </a:extLst>
          </p:cNvPr>
          <p:cNvSpPr>
            <a:spLocks noGrp="1"/>
          </p:cNvSpPr>
          <p:nvPr/>
        </p:nvSpPr>
        <p:spPr>
          <a:xfrm>
            <a:off x="6172200" y="1905000"/>
            <a:ext cx="21812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−30%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ED341A-6E2E-4500-BBFC-E268C5D67543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2066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documentation / transaction errors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EDCD42-DDF7-49E9-98B5-0285DE6D13C1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524125" cy="2000250"/>
          </a:xfrm>
          <a:prstGeom prst="rect">
            <a:avLst/>
          </a:prstGeom>
          <a:solidFill>
            <a:srgbClr val="FFF4E5"/>
          </a:solidFill>
          <a:ln w="9525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237E8F-B24F-48E1-98E1-E3D3BCDFD793}"/>
              </a:ext>
            </a:extLst>
          </p:cNvPr>
          <p:cNvSpPr>
            <a:spLocks noGrp="1"/>
          </p:cNvSpPr>
          <p:nvPr/>
        </p:nvSpPr>
        <p:spPr>
          <a:xfrm>
            <a:off x="8972550" y="1905000"/>
            <a:ext cx="21812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3675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145K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8C4570-64C4-46D0-A651-7D000A6716A0}"/>
              </a:ext>
            </a:extLst>
          </p:cNvPr>
          <p:cNvSpPr>
            <a:spLocks noGrp="1"/>
          </p:cNvSpPr>
          <p:nvPr/>
        </p:nvSpPr>
        <p:spPr>
          <a:xfrm>
            <a:off x="9029700" y="2781300"/>
            <a:ext cx="2066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transactions within modeled audit scope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DAF38-F4E1-42E4-8ABB-D831F1597A53}"/>
              </a:ext>
            </a:extLst>
          </p:cNvPr>
          <p:cNvSpPr>
            <a:spLocks noGrp="1"/>
          </p:cNvSpPr>
          <p:nvPr/>
        </p:nvSpPr>
        <p:spPr>
          <a:xfrm>
            <a:off x="400050" y="4238625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395"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changed operationally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1EF4DD-479D-4151-942D-D263E3A91E3D}"/>
              </a:ext>
            </a:extLst>
          </p:cNvPr>
          <p:cNvSpPr>
            <a:spLocks noGrp="1"/>
          </p:cNvSpPr>
          <p:nvPr/>
        </p:nvSpPr>
        <p:spPr>
          <a:xfrm>
            <a:off x="400050" y="4810125"/>
            <a:ext cx="133350" cy="133350"/>
          </a:xfrm>
          <a:prstGeom prst="rect">
            <a:avLst/>
          </a:prstGeom>
          <a:solidFill>
            <a:srgbClr val="C810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70D8E2-51CC-40DF-90D6-8F1EBD637821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Daily control replaced last-minute audit clean-up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5E0051-3567-450E-AEA3-09815CBDB0DC}"/>
              </a:ext>
            </a:extLst>
          </p:cNvPr>
          <p:cNvSpPr>
            <a:spLocks noGrp="1"/>
          </p:cNvSpPr>
          <p:nvPr/>
        </p:nvSpPr>
        <p:spPr>
          <a:xfrm>
            <a:off x="5972175" y="4810125"/>
            <a:ext cx="133350" cy="133350"/>
          </a:xfrm>
          <a:prstGeom prst="rect">
            <a:avLst/>
          </a:prstGeom>
          <a:solidFill>
            <a:srgbClr val="C810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D1814D-2602-4825-90BA-BEFCF514AD65}"/>
              </a:ext>
            </a:extLst>
          </p:cNvPr>
          <p:cNvSpPr>
            <a:spLocks noGrp="1"/>
          </p:cNvSpPr>
          <p:nvPr/>
        </p:nvSpPr>
        <p:spPr>
          <a:xfrm>
            <a:off x="6238875" y="46482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Exceptions had named owners and closure dates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4C6754-D8F0-4753-B63A-3EA08DA581CD}"/>
              </a:ext>
            </a:extLst>
          </p:cNvPr>
          <p:cNvSpPr>
            <a:spLocks noGrp="1"/>
          </p:cNvSpPr>
          <p:nvPr/>
        </p:nvSpPr>
        <p:spPr>
          <a:xfrm>
            <a:off x="400050" y="5400675"/>
            <a:ext cx="133350" cy="133350"/>
          </a:xfrm>
          <a:prstGeom prst="rect">
            <a:avLst/>
          </a:prstGeom>
          <a:solidFill>
            <a:srgbClr val="C810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9956E4-B723-4EB5-92A4-07E3E7CD49A5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482"/>
          </a:bodyPr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High-risk issues reached AML, fraud or cybersecurity faster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8D6D6A-9490-407B-869B-E3DFC6436F7A}"/>
              </a:ext>
            </a:extLst>
          </p:cNvPr>
          <p:cNvSpPr>
            <a:spLocks noGrp="1"/>
          </p:cNvSpPr>
          <p:nvPr/>
        </p:nvSpPr>
        <p:spPr>
          <a:xfrm>
            <a:off x="5972175" y="5400675"/>
            <a:ext cx="133350" cy="133350"/>
          </a:xfrm>
          <a:prstGeom prst="rect">
            <a:avLst/>
          </a:prstGeom>
          <a:solidFill>
            <a:srgbClr val="C810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F49155-5E01-4317-A769-5A88911C0A4B}"/>
              </a:ext>
            </a:extLst>
          </p:cNvPr>
          <p:cNvSpPr>
            <a:spLocks noGrp="1"/>
          </p:cNvSpPr>
          <p:nvPr/>
        </p:nvSpPr>
        <p:spPr>
          <a:xfrm>
            <a:off x="6238875" y="5238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packages became easier to validate before audit arrival</a:t>
            </a:r>
          </a:p>
        </p:txBody>
      </p:sp>
    </p:spTree>
    <p:extLst>
      <p:ext uri="{BB962C8B-B14F-4D97-AF65-F5344CB8AC3E}">
        <p14:creationId xmlns:p14="http://schemas.microsoft.com/office/powerpoint/2010/main" val="171637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A03392F0-9F8E-4CD1-88C3-BB88C01D3C3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Daily controls addressed the causes of weak audits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7A8106-8676-435C-A707-8D1C9BAEDF13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F0E1E-E094-436B-B40E-BBAF7A288557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11"/>
          <p:cNvGraphicFramePr/>
          <p:nvPr/>
        </p:nvGraphicFramePr>
        <p:xfrm>
          <a:off x="400050" y="1476375"/>
          <a:ext cx="11391900" cy="39052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risk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Daily control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owner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retained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Missing or incomplete documents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Same-day document call-over</a:t>
                      </a:r>
                    </a:p>
                  </a:txBody>
                  <a:tcPr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CRM + Operations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Corrected form / approval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Posting or transaction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Batch reconciliation and exception log</a:t>
                      </a:r>
                    </a:p>
                  </a:txBody>
                  <a:tcPr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Operations + Tellers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Correction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Fraud / AML indicator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Risk classification and rapid escalation</a:t>
                      </a:r>
                    </a:p>
                  </a:txBody>
                  <a:tcPr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Fraud &amp; AML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Review decision / case note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Access-control 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Escalation to cybersecurity</a:t>
                      </a:r>
                    </a:p>
                  </a:txBody>
                  <a:tcPr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Cybersecurity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Access review / remediation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Repeat or overdue finding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Aging report and branch-manager escalation</a:t>
                      </a:r>
                    </a:p>
                  </a:txBody>
                  <a:tcPr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Branch Manager + Internal Control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Closure evidence / sign-off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E76C1EE-B7A3-48DE-BB3F-864F9E5D53DB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39190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4970E-70FD-404D-A8D7-86BBEA3FBAE2}"/>
              </a:ext>
            </a:extLst>
          </p:cNvPr>
          <p:cNvSpPr>
            <a:spLocks noGrp="1"/>
          </p:cNvSpPr>
          <p:nvPr/>
        </p:nvSpPr>
        <p:spPr>
          <a:xfrm>
            <a:off x="619125" y="5781675"/>
            <a:ext cx="1095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797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principle: correct exceptions at the point of work, preserve evidence and escalate based on risk—not proximity to the audit date.</a:t>
            </a:r>
          </a:p>
        </p:txBody>
      </p:sp>
    </p:spTree>
    <p:extLst>
      <p:ext uri="{BB962C8B-B14F-4D97-AF65-F5344CB8AC3E}">
        <p14:creationId xmlns:p14="http://schemas.microsoft.com/office/powerpoint/2010/main" val="29434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99AB3B92-5E05-40AF-B518-51FC7D2886D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branch moved from diagnosis to sustained readiness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371973-1DE3-4292-84EE-D1E9864BA089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BA859A-B52E-4BEB-990F-3022D63455E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43920-B087-42CA-BAFC-BF6C8DB0AF8F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1057275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D9096-B640-48C9-8667-2DD8BCCA03B3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6B76AB-BDE4-475E-ADA0-F2EAEF423278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buNone/>
              <a:defRPr sz="15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2018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C11A3-8181-44AC-B86F-E13331340853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FBDEA-1F55-4245-B571-CD9CF066C995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2238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Reviewed the failed audit result and identified recurring documentation, posting and ownership gaps.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10238A-3414-45B7-941B-B3879447712A}"/>
              </a:ext>
            </a:extLst>
          </p:cNvPr>
          <p:cNvSpPr>
            <a:spLocks noGrp="1"/>
          </p:cNvSpPr>
          <p:nvPr/>
        </p:nvSpPr>
        <p:spPr>
          <a:xfrm>
            <a:off x="3333750" y="3086100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53DB3-25DC-4D65-9856-FF47515890F5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buNone/>
              <a:defRPr sz="15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2019 H1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1C9FC-B311-4B2B-9BB4-9C180E0A44CB}"/>
              </a:ext>
            </a:extLst>
          </p:cNvPr>
          <p:cNvSpPr>
            <a:spLocks noGrp="1"/>
          </p:cNvSpPr>
          <p:nvPr/>
        </p:nvSpPr>
        <p:spPr>
          <a:xfrm>
            <a:off x="3286125" y="3619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E273EC-7648-4632-9AFD-87A66CE7CC62}"/>
              </a:ext>
            </a:extLst>
          </p:cNvPr>
          <p:cNvSpPr>
            <a:spLocks noGrp="1"/>
          </p:cNvSpPr>
          <p:nvPr/>
        </p:nvSpPr>
        <p:spPr>
          <a:xfrm>
            <a:off x="3286125" y="4000500"/>
            <a:ext cx="2238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Introduced daily call-over, exception logging and assigned corrective actions.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F8819-5662-4F6B-8C0B-99391AE91161}"/>
              </a:ext>
            </a:extLst>
          </p:cNvPr>
          <p:cNvSpPr>
            <a:spLocks noGrp="1"/>
          </p:cNvSpPr>
          <p:nvPr/>
        </p:nvSpPr>
        <p:spPr>
          <a:xfrm>
            <a:off x="5905500" y="3086100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DB60C2-B448-4BD0-A515-FDCDA286E461}"/>
              </a:ext>
            </a:extLst>
          </p:cNvPr>
          <p:cNvSpPr>
            <a:spLocks noGrp="1"/>
          </p:cNvSpPr>
          <p:nvPr/>
        </p:nvSpPr>
        <p:spPr>
          <a:xfrm>
            <a:off x="5857875" y="25717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buNone/>
              <a:defRPr sz="15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2019 year-end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64DE79-B788-4ABE-ABB6-4BEF6CC9A7C3}"/>
              </a:ext>
            </a:extLst>
          </p:cNvPr>
          <p:cNvSpPr>
            <a:spLocks noGrp="1"/>
          </p:cNvSpPr>
          <p:nvPr/>
        </p:nvSpPr>
        <p:spPr>
          <a:xfrm>
            <a:off x="5857875" y="3619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9CB275-DE2B-4263-86A6-95D9513549C4}"/>
              </a:ext>
            </a:extLst>
          </p:cNvPr>
          <p:cNvSpPr>
            <a:spLocks noGrp="1"/>
          </p:cNvSpPr>
          <p:nvPr/>
        </p:nvSpPr>
        <p:spPr>
          <a:xfrm>
            <a:off x="5857875" y="4000500"/>
            <a:ext cx="2238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Established weekly readiness reviews, evidence retention and cross-functional escalation.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CD2E91-976F-449D-BA87-E233E84BAB91}"/>
              </a:ext>
            </a:extLst>
          </p:cNvPr>
          <p:cNvSpPr>
            <a:spLocks noGrp="1"/>
          </p:cNvSpPr>
          <p:nvPr/>
        </p:nvSpPr>
        <p:spPr>
          <a:xfrm>
            <a:off x="8477250" y="3086100"/>
            <a:ext cx="171450" cy="171450"/>
          </a:xfrm>
          <a:prstGeom prst="rect">
            <a:avLst/>
          </a:prstGeom>
          <a:solidFill>
            <a:srgbClr val="C810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BBE47-CA10-412C-9B20-ADFECECC1B30}"/>
              </a:ext>
            </a:extLst>
          </p:cNvPr>
          <p:cNvSpPr>
            <a:spLocks noGrp="1"/>
          </p:cNvSpPr>
          <p:nvPr/>
        </p:nvSpPr>
        <p:spPr>
          <a:xfrm>
            <a:off x="8429625" y="25717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buNone/>
              <a:defRPr sz="1500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2020 year-end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E8B4E-3918-456F-9CE2-7905614B37A1}"/>
              </a:ext>
            </a:extLst>
          </p:cNvPr>
          <p:cNvSpPr>
            <a:spLocks noGrp="1"/>
          </p:cNvSpPr>
          <p:nvPr/>
        </p:nvSpPr>
        <p:spPr>
          <a:xfrm>
            <a:off x="8429625" y="3619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SUSTAIN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432A33-9120-45C1-AD6B-859398AC2A9E}"/>
              </a:ext>
            </a:extLst>
          </p:cNvPr>
          <p:cNvSpPr>
            <a:spLocks noGrp="1"/>
          </p:cNvSpPr>
          <p:nvPr/>
        </p:nvSpPr>
        <p:spPr>
          <a:xfrm>
            <a:off x="8429625" y="4000500"/>
            <a:ext cx="2238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Embedded the control rhythm and achieved approximately 95% audit performance.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44B881-B73F-48AA-BD22-E72528F73D37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Modeled chronology: the precise number and dates of audit checkpoints should be validated before external publication.</a:t>
            </a:r>
          </a:p>
        </p:txBody>
      </p:sp>
    </p:spTree>
    <p:extLst>
      <p:ext uri="{BB962C8B-B14F-4D97-AF65-F5344CB8AC3E}">
        <p14:creationId xmlns:p14="http://schemas.microsoft.com/office/powerpoint/2010/main" val="96416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B1D3C7C3-6076-4D36-98FD-8397A08BBFD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814"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project demonstrates project management through operational 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946C4C-5460-47A0-8A80-1DA4940BF716}"/>
              </a:ext>
            </a:extLst>
          </p:cNvPr>
          <p:cNvSpPr>
            <a:spLocks noGrp="1"/>
          </p:cNvSpPr>
          <p:nvPr/>
        </p:nvSpPr>
        <p:spPr>
          <a:xfrm>
            <a:off x="11353800" y="6267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345283-ECA5-45A0-8817-BE9D59F63F69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28575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398445-90FD-4313-8DAA-6A8D549A4A08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524125" cy="2381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FF01A-8C42-46D9-808C-66C4AA0D73E2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2143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000"/>
          </a:bodyPr>
          <a:lstStyle/>
          <a:p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28BB1-8B38-4BB5-BAF6-7490BAF95819}"/>
              </a:ext>
            </a:extLst>
          </p:cNvPr>
          <p:cNvSpPr>
            <a:spLocks noGrp="1"/>
          </p:cNvSpPr>
          <p:nvPr/>
        </p:nvSpPr>
        <p:spPr>
          <a:xfrm>
            <a:off x="638175" y="2714625"/>
            <a:ext cx="2047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152"/>
          </a:bodyPr>
          <a:lstStyle/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calendar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Readiness criteria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Risk-based priorities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2092BB-F816-487E-8D15-388E470F83FD}"/>
              </a:ext>
            </a:extLst>
          </p:cNvPr>
          <p:cNvSpPr>
            <a:spLocks noGrp="1"/>
          </p:cNvSpPr>
          <p:nvPr/>
        </p:nvSpPr>
        <p:spPr>
          <a:xfrm>
            <a:off x="3200400" y="1809750"/>
            <a:ext cx="2524125" cy="2381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E76F3-0C05-46BD-8DDB-060B1CDBE89D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143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000"/>
          </a:bodyPr>
          <a:lstStyle/>
          <a:p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3B890C-0ADC-4EF1-AAD1-D16918FDEAC2}"/>
              </a:ext>
            </a:extLst>
          </p:cNvPr>
          <p:cNvSpPr>
            <a:spLocks noGrp="1"/>
          </p:cNvSpPr>
          <p:nvPr/>
        </p:nvSpPr>
        <p:spPr>
          <a:xfrm>
            <a:off x="3438525" y="2714625"/>
            <a:ext cx="2047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125"/>
          </a:bodyPr>
          <a:lstStyle/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Cross-functional RACI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Communication cadence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Escalation paths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479B3-940D-45D2-AD6F-352C3447EFA4}"/>
              </a:ext>
            </a:extLst>
          </p:cNvPr>
          <p:cNvSpPr>
            <a:spLocks noGrp="1"/>
          </p:cNvSpPr>
          <p:nvPr/>
        </p:nvSpPr>
        <p:spPr>
          <a:xfrm>
            <a:off x="6000750" y="1809750"/>
            <a:ext cx="2524125" cy="2381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6B0A20-D502-46EC-8479-73E8D7B51F38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2143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000"/>
          </a:bodyPr>
          <a:lstStyle/>
          <a:p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1440B-860E-470F-8145-4238F076D5F6}"/>
              </a:ext>
            </a:extLst>
          </p:cNvPr>
          <p:cNvSpPr>
            <a:spLocks noGrp="1"/>
          </p:cNvSpPr>
          <p:nvPr/>
        </p:nvSpPr>
        <p:spPr>
          <a:xfrm>
            <a:off x="6238875" y="2714625"/>
            <a:ext cx="2047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Daily call-over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Issue register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Closure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AE6889-B628-43A5-967C-004D4F5EB408}"/>
              </a:ext>
            </a:extLst>
          </p:cNvPr>
          <p:cNvSpPr>
            <a:spLocks noGrp="1"/>
          </p:cNvSpPr>
          <p:nvPr/>
        </p:nvSpPr>
        <p:spPr>
          <a:xfrm>
            <a:off x="8801100" y="1809750"/>
            <a:ext cx="2524125" cy="2381250"/>
          </a:xfrm>
          <a:prstGeom prst="rect">
            <a:avLst/>
          </a:prstGeom>
          <a:solidFill>
            <a:srgbClr val="FDECEF"/>
          </a:solidFill>
          <a:ln w="952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89EA2-7F4A-4ED5-B879-670EAA43EBC6}"/>
              </a:ext>
            </a:extLst>
          </p:cNvPr>
          <p:cNvSpPr>
            <a:spLocks noGrp="1"/>
          </p:cNvSpPr>
          <p:nvPr/>
        </p:nvSpPr>
        <p:spPr>
          <a:xfrm>
            <a:off x="8991600" y="2095500"/>
            <a:ext cx="2143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000"/>
          </a:bodyPr>
          <a:lstStyle/>
          <a:p>
            <a:pPr algn="ctr">
              <a:buNone/>
              <a:defRPr sz="1875" b="1">
                <a:solidFill>
                  <a:srgbClr val="C81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DE8700-4363-4A3E-BDB1-5B79A61075B9}"/>
              </a:ext>
            </a:extLst>
          </p:cNvPr>
          <p:cNvSpPr>
            <a:spLocks noGrp="1"/>
          </p:cNvSpPr>
          <p:nvPr/>
        </p:nvSpPr>
        <p:spPr>
          <a:xfrm>
            <a:off x="9039225" y="2714625"/>
            <a:ext cx="2047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KPI tracking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Lessons learned</a:t>
            </a: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Sustained discipline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EE788-E3B8-4504-93CB-A68FBB3031E7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619"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positioning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B47F0E-5CA9-4269-93C5-F22E37DC93AF}"/>
              </a:ext>
            </a:extLst>
          </p:cNvPr>
          <p:cNvSpPr>
            <a:spLocks noGrp="1"/>
          </p:cNvSpPr>
          <p:nvPr/>
        </p:nvSpPr>
        <p:spPr>
          <a:xfrm>
            <a:off x="400050" y="5191125"/>
            <a:ext cx="1066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648"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branch-level audit-readiness project that converted a failed control environment into a repeatable operating process, improved audit performance and reduced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6E66FE-DA03-4DA4-A972-8D3DED5BC6E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095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Evidence discipline: 65% baseline, 95% final and 30% error reduction are user-provided. Modeled volumes and intermediate review points remain illustrative.</a:t>
            </a:r>
          </a:p>
        </p:txBody>
      </p:sp>
    </p:spTree>
    <p:extLst>
      <p:ext uri="{BB962C8B-B14F-4D97-AF65-F5344CB8AC3E}">
        <p14:creationId xmlns:p14="http://schemas.microsoft.com/office/powerpoint/2010/main" val="4614214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Macintosh PowerPoint</Application>
  <DocSecurity>0</DocSecurity>
  <PresentationFormat>Widescreen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Agnes Abiodun Iwaye</cp:lastModifiedBy>
  <cp:revision>1</cp:revision>
  <dcterms:created xsi:type="dcterms:W3CDTF">2026-09-01T22:25:12Z</dcterms:created>
  <dcterms:modified xsi:type="dcterms:W3CDTF">2026-09-01T22:55:30Z</dcterms:modified>
</cp:coreProperties>
</file>